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Opening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Problem framing based on report sections Results and Practical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Solution overview based on report Results and Technical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Screens: report/assets/stud home.png and stud book.png. Features: report Results, Scheduling System, For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Screens: report/assets/prof home.png and prof create slots.png. Features: report Results, Scheduling System, For Professors.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Screen: report/assets/campus map.png. Features: report Results, Interactive Campus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Screen: report/assets/campus routing multi floor.png. Report Technical Details states Dijkstra pathfinding and transitions via stairs/elevators.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Integration described in report Multi-Floor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Architecture based on README and report Technical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Roadmap based on report Further Development and Practical Application/Deployment.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s 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239"/>
          </a:solidFill>
          <a:ln w="0">
            <a:noFill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6953250" y="-762000"/>
            <a:ext cx="5905500" cy="8191500"/>
          </a:xfrm>
          <a:prstGeom prst="rect">
            <a:avLst/>
          </a:prstGeom>
          <a:solidFill>
            <a:srgbClr val="0C7F89"/>
          </a:solidFill>
          <a:ln w="0">
            <a:noFill/>
          </a:ln>
        </p:spPr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8286750" y="571500"/>
            <a:ext cx="3238500" cy="5524500"/>
          </a:xfrm>
          <a:prstGeom prst="roundRect">
            <a:avLst>
              <a:gd name="adj" fmla="val 3529"/>
            </a:avLst>
          </a:prstGeom>
          <a:solidFill>
            <a:srgbClr val="D9F3F1"/>
          </a:solidFill>
          <a:ln w="0">
            <a:noFill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rcRect l="26319" r="26319"/>
          <a:stretch>
            <a:fillRect/>
          </a:stretch>
        </p:blipFill>
        <p:spPr>
          <a:xfrm>
            <a:off x="8572500" y="904875"/>
            <a:ext cx="2667000" cy="4857750"/>
          </a:xfrm>
          <a:prstGeom prst="roundRect">
            <a:avLst>
              <a:gd name="adj" fmla="val 4286"/>
            </a:avLst>
          </a:prstGeom>
        </p:spPr>
      </p:pic>
      <p:sp>
        <p:nvSpPr>
          <p:cNvPr id="5" name="Rectangles 4"/>
          <p:cNvSpPr>
            <a:spLocks noGrp="1"/>
          </p:cNvSpPr>
          <p:nvPr/>
        </p:nvSpPr>
        <p:spPr>
          <a:xfrm>
            <a:off x="723900" y="7239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>
              <a:defRPr sz="1275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F1"/>
                </a:solidFill>
                <a:latin typeface="Aptos"/>
                <a:ea typeface="Aptos"/>
                <a:cs typeface="Aptos"/>
              </a:rPr>
              <a:t>SYNCUP</a:t>
            </a:r>
            <a:endParaRPr sz="1275" b="1">
              <a:solidFill>
                <a:srgbClr val="D9F3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723900" y="1428750"/>
            <a:ext cx="5619750" cy="1476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Meet here.</a:t>
            </a:r>
            <a:endParaRPr sz="4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Find it.</a:t>
            </a:r>
            <a:endParaRPr sz="4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762000" y="323850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0">
                <a:solidFill>
                  <a:srgbClr val="D5E5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5E5EE"/>
                </a:solidFill>
                <a:latin typeface="Aptos"/>
                <a:ea typeface="Aptos"/>
                <a:cs typeface="Aptos"/>
              </a:rPr>
              <a:t>University appointment scheduling and indoor campus navigation</a:t>
            </a:r>
            <a:endParaRPr sz="1875" b="0">
              <a:solidFill>
                <a:srgbClr val="D5E5E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762000" y="4333875"/>
            <a:ext cx="1905000" cy="0"/>
          </a:xfrm>
          <a:prstGeom prst="line">
            <a:avLst/>
          </a:prstGeom>
          <a:ln w="47625">
            <a:solidFill>
              <a:srgbClr val="F2B84B"/>
            </a:solidFill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762000" y="4762500"/>
            <a:ext cx="5715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Adar Otieno · Eyobed Awel Nuri · Pengwei Jiang · Mengran Zhao</a:t>
            </a:r>
            <a:endParaRPr sz="135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VUT · September 2026</a:t>
            </a:r>
            <a:endParaRPr sz="135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s 18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THE PROBLEM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One appointment involves two separate journeys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839470" y="1340485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02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685800" y="1857375"/>
            <a:ext cx="10820400" cy="9525"/>
          </a:xfrm>
          <a:prstGeom prst="rect">
            <a:avLst/>
          </a:prstGeom>
          <a:solidFill>
            <a:srgbClr val="B8D9DA"/>
          </a:solidFill>
          <a:ln w="0">
            <a:noFill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685800" y="2266950"/>
            <a:ext cx="2714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BOOK</a:t>
            </a:r>
            <a:endParaRPr sz="13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8580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065"/>
          </a:bodyPr>
          <a:lstStyle/>
          <a:p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Finding a free consultation slot often relies on email exchanges.</a:t>
            </a:r>
            <a:endParaRPr sz="20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685800" y="4171950"/>
            <a:ext cx="2571750" cy="0"/>
          </a:xfrm>
          <a:prstGeom prst="line">
            <a:avLst/>
          </a:prstGeom>
          <a:ln w="19050">
            <a:solidFill>
              <a:srgbClr val="B8D9DA"/>
            </a:solidFill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85800" y="44005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Schedule the meeting</a:t>
            </a:r>
            <a:endParaRPr sz="127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4343400" y="2266950"/>
            <a:ext cx="2714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LOCATE</a:t>
            </a:r>
            <a:endParaRPr sz="13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434340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New students and visitors can struggle to find an office or lab.</a:t>
            </a:r>
            <a:endParaRPr sz="20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4343400" y="4171950"/>
            <a:ext cx="2571750" cy="0"/>
          </a:xfrm>
          <a:prstGeom prst="line">
            <a:avLst/>
          </a:prstGeom>
          <a:ln w="19050">
            <a:solidFill>
              <a:srgbClr val="B8D9DA"/>
            </a:solidFill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4343400" y="44005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Reach the destination</a:t>
            </a:r>
            <a:endParaRPr sz="127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8001000" y="2266950"/>
            <a:ext cx="2714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CONNECT</a:t>
            </a:r>
            <a:endParaRPr sz="13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800100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224"/>
          </a:bodyPr>
          <a:lstStyle/>
          <a:p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Calendar tools and indoor maps do not share the meeting context.</a:t>
            </a:r>
            <a:endParaRPr sz="20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8001000" y="4171950"/>
            <a:ext cx="2571750" cy="0"/>
          </a:xfrm>
          <a:prstGeom prst="line">
            <a:avLst/>
          </a:prstGeom>
          <a:ln w="19050">
            <a:solidFill>
              <a:srgbClr val="B8D9DA"/>
            </a:solidFill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8001000" y="44005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Keep the context</a:t>
            </a:r>
            <a:endParaRPr sz="127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685800" y="5467350"/>
            <a:ext cx="8858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025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SyncUp brings booking and campus navigation into one student-facing flow.</a:t>
            </a:r>
            <a:endParaRPr sz="2025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s 19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THE SOLUTION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A single flow from availability to arrival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03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1790700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381500" y="1790700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077200" y="1790700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952500" y="2076450"/>
            <a:ext cx="4572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16"/>
          </a:bodyPr>
          <a:lstStyle/>
          <a:p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1</a:t>
            </a:r>
            <a:endParaRPr sz="25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952500" y="272415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571"/>
          </a:bodyPr>
          <a:lstStyle/>
          <a:p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Choose a time</a:t>
            </a:r>
            <a:endParaRPr sz="21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952500" y="3238500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Students browse staff availability and submit a consultation request.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4648200" y="2076450"/>
            <a:ext cx="4572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16"/>
          </a:bodyPr>
          <a:lstStyle/>
          <a:p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2</a:t>
            </a:r>
            <a:endParaRPr sz="25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4648200" y="272415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571"/>
          </a:bodyPr>
          <a:lstStyle/>
          <a:p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Meeting details</a:t>
            </a:r>
            <a:endParaRPr sz="21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4648200" y="3238500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booking keeps the appointment’s location available at the right moment.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8343900" y="2076450"/>
            <a:ext cx="4572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16"/>
          </a:bodyPr>
          <a:lstStyle/>
          <a:p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3</a:t>
            </a:r>
            <a:endParaRPr sz="25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8343900" y="272415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571"/>
          </a:bodyPr>
          <a:lstStyle/>
          <a:p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Open the route</a:t>
            </a:r>
            <a:endParaRPr sz="21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8343900" y="3238500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map can focus on the destination and show an indoor path across floors.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4114800" y="3714750"/>
            <a:ext cx="26670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810500" y="3714750"/>
            <a:ext cx="26670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685800" y="6048375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Flutter application · PocketBase scheduling data · FIT indoor map data</a:t>
            </a:r>
            <a:endParaRPr sz="127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s 12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SCHEDULING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Student booking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04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rcRect l="4762" r="4762"/>
          <a:stretch>
            <a:fillRect/>
          </a:stretch>
        </p:blipFill>
        <p:spPr>
          <a:xfrm>
            <a:off x="685800" y="1762125"/>
            <a:ext cx="4095750" cy="3905250"/>
          </a:xfrm>
          <a:prstGeom prst="roundRect">
            <a:avLst>
              <a:gd name="adj" fmla="val 2927"/>
            </a:avLst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rcRect l="4762" r="4762"/>
          <a:stretch>
            <a:fillRect/>
          </a:stretch>
        </p:blipFill>
        <p:spPr>
          <a:xfrm>
            <a:off x="5219700" y="1762125"/>
            <a:ext cx="4095750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7" name="Rounded Rectangle 6"/>
          <p:cNvSpPr>
            <a:spLocks noGrp="1"/>
          </p:cNvSpPr>
          <p:nvPr/>
        </p:nvSpPr>
        <p:spPr>
          <a:xfrm>
            <a:off x="9639300" y="1762125"/>
            <a:ext cx="1866900" cy="3905250"/>
          </a:xfrm>
          <a:prstGeom prst="roundRect">
            <a:avLst>
              <a:gd name="adj" fmla="val 6122"/>
            </a:avLst>
          </a:prstGeom>
          <a:solidFill>
            <a:srgbClr val="0B2239"/>
          </a:solidFill>
          <a:ln w="0">
            <a:noFill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9906000" y="2133600"/>
            <a:ext cx="1333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Find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professor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9906000" y="3143250"/>
            <a:ext cx="1238250" cy="0"/>
          </a:xfrm>
          <a:prstGeom prst="line">
            <a:avLst/>
          </a:prstGeom>
          <a:ln w="28575">
            <a:solidFill>
              <a:srgbClr val="F2B84B"/>
            </a:solidFill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9906000" y="3429000"/>
            <a:ext cx="1285875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27"/>
          </a:bodyPr>
          <a:lstStyle/>
          <a:p>
            <a:pPr>
              <a:defRPr sz="15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View availability by week</a:t>
            </a:r>
            <a:endParaRPr sz="1500" b="0">
              <a:solidFill>
                <a:srgbClr val="DCEC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9906000" y="4457700"/>
            <a:ext cx="1285875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lstStyle/>
          <a:p>
            <a:pPr>
              <a:defRPr sz="15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Pick an open slot and add a topic</a:t>
            </a:r>
            <a:endParaRPr sz="1500" b="0">
              <a:solidFill>
                <a:srgbClr val="DCEC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685800" y="5962650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The app replaces guesswork with visible times.</a:t>
            </a:r>
            <a:endParaRPr sz="16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s 10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SCHEDULING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Availability management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05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rcRect l="6241" r="6241"/>
          <a:stretch>
            <a:fillRect/>
          </a:stretch>
        </p:blipFill>
        <p:spPr>
          <a:xfrm>
            <a:off x="685800" y="1752600"/>
            <a:ext cx="4000500" cy="3943350"/>
          </a:xfrm>
          <a:prstGeom prst="roundRect">
            <a:avLst>
              <a:gd name="adj" fmla="val 2899"/>
            </a:avLst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 l="6241" r="6241"/>
          <a:stretch>
            <a:fillRect/>
          </a:stretch>
        </p:blipFill>
        <p:spPr>
          <a:xfrm>
            <a:off x="5010150" y="1752600"/>
            <a:ext cx="4000500" cy="3943350"/>
          </a:xfrm>
          <a:prstGeom prst="roundRect">
            <a:avLst>
              <a:gd name="adj" fmla="val 2899"/>
            </a:avLst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9391650" y="1828800"/>
            <a:ext cx="1695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For staff</a:t>
            </a:r>
            <a:endParaRPr sz="1275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9391650" y="2266950"/>
            <a:ext cx="2047875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228"/>
          </a:bodyPr>
          <a:lstStyle/>
          <a:p>
            <a:pPr>
              <a:defRPr sz="22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Recurring availability fits a university timetable</a:t>
            </a:r>
            <a:endParaRPr sz="22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9391650" y="3733800"/>
            <a:ext cx="2000250" cy="1285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Define a time range.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Review appointments.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Block exceptions such as holidays or conferences.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9391650" y="5353050"/>
            <a:ext cx="2000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259"/>
          </a:bodyPr>
          <a:lstStyle/>
          <a:p>
            <a:pPr>
              <a:defRPr sz="13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Weekly views keep incoming requests visible.</a:t>
            </a:r>
            <a:endParaRPr sz="13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s 10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FITMAPS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Indoor map and room search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06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rcRect t="10224" b="10224"/>
          <a:stretch>
            <a:fillRect/>
          </a:stretch>
        </p:blipFill>
        <p:spPr>
          <a:xfrm>
            <a:off x="685800" y="1733550"/>
            <a:ext cx="582930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6" name="Rounded Rectangle 5"/>
          <p:cNvSpPr>
            <a:spLocks noGrp="1"/>
          </p:cNvSpPr>
          <p:nvPr/>
        </p:nvSpPr>
        <p:spPr>
          <a:xfrm>
            <a:off x="7067550" y="1866900"/>
            <a:ext cx="3905250" cy="352425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7" name="Rectangles 6"/>
          <p:cNvSpPr>
            <a:spLocks noGrp="1"/>
          </p:cNvSpPr>
          <p:nvPr/>
        </p:nvSpPr>
        <p:spPr>
          <a:xfrm>
            <a:off x="7429500" y="226695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595"/>
          </a:bodyPr>
          <a:lstStyle/>
          <a:p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Campus layout</a:t>
            </a:r>
            <a:endParaRPr sz="21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7429500" y="2857500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261"/>
          </a:bodyPr>
          <a:lstStyle/>
          <a:p>
            <a:pPr>
              <a:defRPr sz="16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interactive map supports panning, zooming, room selection, and search for labs or offices.</a:t>
            </a:r>
            <a:endParaRPr sz="165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7429500" y="4191000"/>
            <a:ext cx="2647950" cy="0"/>
          </a:xfrm>
          <a:prstGeom prst="line">
            <a:avLst/>
          </a:prstGeom>
          <a:ln w="19050">
            <a:solidFill>
              <a:srgbClr val="B8D9DA"/>
            </a:solidFill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429500" y="4505325"/>
            <a:ext cx="28194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defRPr sz="150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FIT campus data supports the project demonstration.</a:t>
            </a:r>
            <a:endParaRPr sz="150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s 12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NAVIGATION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Multi-floor route guidance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07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1743075"/>
            <a:ext cx="3810000" cy="4000500"/>
          </a:xfrm>
          <a:prstGeom prst="roundRect">
            <a:avLst>
              <a:gd name="adj" fmla="val 3000"/>
            </a:avLst>
          </a:prstGeom>
          <a:solidFill>
            <a:srgbClr val="0B2239"/>
          </a:solidFill>
          <a:ln w="0">
            <a:noFill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1066800" y="219075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09"/>
          </a:bodyPr>
          <a:lstStyle/>
          <a:p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A101</a:t>
            </a:r>
            <a:endParaRPr sz="21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066800" y="2790825"/>
            <a:ext cx="219075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1066800" y="3162300"/>
            <a:ext cx="24193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75" b="0">
                <a:solidFill>
                  <a:srgbClr val="DBEF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FF0"/>
                </a:solidFill>
                <a:latin typeface="Aptos"/>
                <a:ea typeface="Aptos"/>
                <a:cs typeface="Aptos"/>
              </a:rPr>
              <a:t>Corridor and stair or elevator transition</a:t>
            </a:r>
            <a:endParaRPr sz="1575" b="0">
              <a:solidFill>
                <a:srgbClr val="DBEF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657350" y="4029075"/>
            <a:ext cx="0" cy="666750"/>
          </a:xfrm>
          <a:prstGeom prst="line">
            <a:avLst/>
          </a:prstGeom>
          <a:ln w="28575">
            <a:solidFill>
              <a:srgbClr val="D9F3F1"/>
            </a:solidFill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1066800" y="49911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Room destination</a:t>
            </a:r>
            <a:endParaRPr sz="15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rcRect t="14618" b="14618"/>
          <a:stretch>
            <a:fillRect/>
          </a:stretch>
        </p:blipFill>
        <p:spPr>
          <a:xfrm>
            <a:off x="4953000" y="1743075"/>
            <a:ext cx="655320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12" name="Rectangles 11"/>
          <p:cNvSpPr>
            <a:spLocks noGrp="1"/>
          </p:cNvSpPr>
          <p:nvPr/>
        </p:nvSpPr>
        <p:spPr>
          <a:xfrm>
            <a:off x="685800" y="6019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>
              <a:defRPr sz="150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The route engine runs Dijkstra’s algorithm on a campus graph and accounts for floor transitions.</a:t>
            </a:r>
            <a:endParaRPr sz="150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s 19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INTEGRATION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The meeting location can become a route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08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876300" y="219075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1143000" y="2419350"/>
            <a:ext cx="609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01</a:t>
            </a:r>
            <a:endParaRPr sz="1275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1143000" y="287655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62"/>
          </a:bodyPr>
          <a:lstStyle/>
          <a:p>
            <a:pPr>
              <a:defRPr sz="217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Booking</a:t>
            </a:r>
            <a:endParaRPr sz="217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1143000" y="3390900"/>
            <a:ext cx="223837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A confirmed consultation includes its room.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3733800" y="3200400"/>
            <a:ext cx="78105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514850" y="219075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0C7F89"/>
          </a:solidFill>
          <a:ln w="9525">
            <a:solidFill>
              <a:srgbClr val="0C7F89"/>
            </a:solidFill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4781550" y="2419350"/>
            <a:ext cx="609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F1"/>
                </a:solidFill>
                <a:latin typeface="Aptos"/>
                <a:ea typeface="Aptos"/>
                <a:cs typeface="Aptos"/>
              </a:rPr>
              <a:t>02</a:t>
            </a:r>
            <a:endParaRPr sz="1275" b="1">
              <a:solidFill>
                <a:srgbClr val="D9F3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4781550" y="287655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62"/>
          </a:bodyPr>
          <a:lstStyle/>
          <a:p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Navigate</a:t>
            </a:r>
            <a:endParaRPr sz="21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4781550" y="3390900"/>
            <a:ext cx="223837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user opens navigation from meeting context.</a:t>
            </a:r>
            <a:endParaRPr sz="142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7372350" y="3200400"/>
            <a:ext cx="78105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153400" y="219075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8420100" y="2419350"/>
            <a:ext cx="609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03</a:t>
            </a:r>
            <a:endParaRPr sz="1275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8420100" y="287655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62"/>
          </a:bodyPr>
          <a:lstStyle/>
          <a:p>
            <a:pPr>
              <a:defRPr sz="217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Route</a:t>
            </a:r>
            <a:endParaRPr sz="217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8420100" y="3390900"/>
            <a:ext cx="223837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map targets the office and shows directions.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1219200" y="5105400"/>
            <a:ext cx="9620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498"/>
          </a:bodyPr>
          <a:lstStyle/>
          <a:p>
            <a:pPr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This connection helps users act on a booking without switching to a separate wayfinding tool.</a:t>
            </a:r>
            <a:endParaRPr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s 19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TECHNICAL DETAILS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Prototype architecture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09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2381250"/>
            <a:ext cx="3048000" cy="2286000"/>
          </a:xfrm>
          <a:prstGeom prst="roundRect">
            <a:avLst>
              <a:gd name="adj" fmla="val 5000"/>
            </a:avLst>
          </a:prstGeom>
          <a:solidFill>
            <a:srgbClr val="0B2239"/>
          </a:solidFill>
          <a:ln w="9525">
            <a:solidFill>
              <a:srgbClr val="0B2239"/>
            </a:solidFill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952500" y="2743200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68"/>
          </a:bodyPr>
          <a:lstStyle/>
          <a:p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Flutter app</a:t>
            </a:r>
            <a:endParaRPr sz="20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952500" y="3305175"/>
            <a:ext cx="1000125" cy="0"/>
          </a:xfrm>
          <a:prstGeom prst="line">
            <a:avLst/>
          </a:prstGeom>
          <a:ln w="28575">
            <a:solidFill>
              <a:srgbClr val="F2B84B"/>
            </a:solidFill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952500" y="3562350"/>
            <a:ext cx="24003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/>
          </a:bodyPr>
          <a:lstStyle/>
          <a:p>
            <a:pPr>
              <a:defRPr sz="15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Scheduling views</a:t>
            </a:r>
            <a:endParaRPr sz="1500" b="0">
              <a:solidFill>
                <a:srgbClr val="DCECEF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Custom map renderer</a:t>
            </a:r>
            <a:endParaRPr sz="1500" b="0">
              <a:solidFill>
                <a:srgbClr val="DCECEF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Graph pathfinder</a:t>
            </a:r>
            <a:endParaRPr sz="1500" b="0">
              <a:solidFill>
                <a:srgbClr val="DCEC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3733800" y="3524250"/>
            <a:ext cx="66675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400550" y="2381250"/>
            <a:ext cx="3048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4667250" y="2743200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68"/>
          </a:bodyPr>
          <a:lstStyle/>
          <a:p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Node.js API</a:t>
            </a:r>
            <a:endParaRPr sz="20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4667250" y="3305175"/>
            <a:ext cx="1000125" cy="0"/>
          </a:xfrm>
          <a:prstGeom prst="line">
            <a:avLst/>
          </a:prstGeom>
          <a:ln w="28575">
            <a:solidFill>
              <a:srgbClr val="0C7F89"/>
            </a:solidFill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4667250" y="3562350"/>
            <a:ext cx="24003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Bootstrap and proxy layer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Authentication and seeded data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7448550" y="3524250"/>
            <a:ext cx="66675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115300" y="2381250"/>
            <a:ext cx="3048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8382000" y="2743200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68"/>
          </a:bodyPr>
          <a:lstStyle/>
          <a:p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PocketBase</a:t>
            </a:r>
            <a:endParaRPr sz="20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8382000" y="3305175"/>
            <a:ext cx="1000125" cy="0"/>
          </a:xfrm>
          <a:prstGeom prst="line">
            <a:avLst/>
          </a:prstGeom>
          <a:ln w="28575">
            <a:solidFill>
              <a:srgbClr val="0C7F89"/>
            </a:solidFill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8382000" y="3562350"/>
            <a:ext cx="24003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Embedded SQLite data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Schedule and booking synchronization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685800" y="5524500"/>
            <a:ext cx="10287000" cy="314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636"/>
          </a:bodyPr>
          <a:lstStyle/>
          <a:p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Flutter renders the cross-platform experience; Node.js and PocketBase support the scheduling data layer.</a:t>
            </a:r>
            <a:endParaRPr sz="16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s 22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NEXT STEPS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Future development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10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685800" y="18573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/>
          </a:bodyPr>
          <a:lstStyle/>
          <a:p>
            <a:pPr>
              <a:defRPr sz="22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Where the prototype can grow</a:t>
            </a:r>
            <a:endParaRPr sz="22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85800" y="2714625"/>
            <a:ext cx="809625" cy="590550"/>
          </a:xfrm>
          <a:prstGeom prst="roundRect">
            <a:avLst>
              <a:gd name="adj" fmla="val 19355"/>
            </a:avLst>
          </a:prstGeom>
          <a:solidFill>
            <a:srgbClr val="0C7F89"/>
          </a:solidFill>
          <a:ln w="0">
            <a:noFill/>
          </a:ln>
        </p:spPr>
      </p:sp>
      <p:sp>
        <p:nvSpPr>
          <p:cNvPr id="7" name="Rectangles 6"/>
          <p:cNvSpPr>
            <a:spLocks noGrp="1"/>
          </p:cNvSpPr>
          <p:nvPr/>
        </p:nvSpPr>
        <p:spPr>
          <a:xfrm>
            <a:off x="914400" y="285750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1809750" y="275272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BLE positioning</a:t>
            </a:r>
            <a:endParaRPr sz="17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1809750" y="3114675"/>
            <a:ext cx="6191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Use indoor beacons to estimate the user’s live location.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85800" y="3714750"/>
            <a:ext cx="809625" cy="590550"/>
          </a:xfrm>
          <a:prstGeom prst="roundRect">
            <a:avLst>
              <a:gd name="adj" fmla="val 19355"/>
            </a:avLst>
          </a:prstGeom>
          <a:solidFill>
            <a:srgbClr val="D9F3F1"/>
          </a:solidFill>
          <a:ln w="0">
            <a:noFill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914400" y="3857625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2</a:t>
            </a:r>
            <a:endParaRPr sz="16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809750" y="37528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Campus coverage</a:t>
            </a:r>
            <a:endParaRPr sz="17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1809750" y="4114800"/>
            <a:ext cx="6191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Extend the map dataset beyond the primary FIT campus.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85800" y="4714875"/>
            <a:ext cx="809625" cy="590550"/>
          </a:xfrm>
          <a:prstGeom prst="roundRect">
            <a:avLst>
              <a:gd name="adj" fmla="val 19355"/>
            </a:avLst>
          </a:prstGeom>
          <a:solidFill>
            <a:srgbClr val="D9F3F1"/>
          </a:solidFill>
          <a:ln w="0">
            <a:noFill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914400" y="48577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3</a:t>
            </a:r>
            <a:endParaRPr sz="16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1809750" y="475297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Wider adoption</a:t>
            </a:r>
            <a:endParaRPr sz="17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1809750" y="5114925"/>
            <a:ext cx="6191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Adapt the scheduling and map model for other faculties or universities.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8639175" y="1962150"/>
            <a:ext cx="2857500" cy="3638550"/>
          </a:xfrm>
          <a:prstGeom prst="roundRect">
            <a:avLst>
              <a:gd name="adj" fmla="val 4000"/>
            </a:avLst>
          </a:prstGeom>
          <a:solidFill>
            <a:srgbClr val="0B2239"/>
          </a:solidFill>
          <a:ln w="0">
            <a:noFill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9058275" y="2524125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143"/>
          </a:bodyPr>
          <a:lstStyle/>
          <a:p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SyncUp</a:t>
            </a:r>
            <a:endParaRPr sz="26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9010650" y="3267075"/>
            <a:ext cx="2095500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268"/>
          </a:bodyPr>
          <a:lstStyle/>
          <a:p>
            <a:pPr>
              <a:defRPr sz="1800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F3F1"/>
                </a:solidFill>
                <a:latin typeface="Aptos"/>
                <a:ea typeface="Aptos"/>
                <a:cs typeface="Aptos"/>
              </a:rPr>
              <a:t>A practical foundation for easier campus meetings.</a:t>
            </a:r>
            <a:endParaRPr sz="1800" b="1">
              <a:solidFill>
                <a:srgbClr val="D9F3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9296400" y="4448175"/>
            <a:ext cx="152400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9086850" y="485775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2719</Words>
  <Application>WPS Presentation</Application>
  <PresentationFormat>Converted Presentation</PresentationFormat>
  <Paragraphs>201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Aptos</vt:lpstr>
      <vt:lpstr>Comfortaa Light</vt:lpstr>
      <vt:lpstr>Microsoft YaHei</vt:lpstr>
      <vt:lpstr>Droid Sans Fallback</vt:lpstr>
      <vt:lpstr>DejaVu Sans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eyobed</cp:lastModifiedBy>
  <cp:revision>1</cp:revision>
  <dcterms:created xsi:type="dcterms:W3CDTF">2026-09-11T01:18:26Z</dcterms:created>
  <dcterms:modified xsi:type="dcterms:W3CDTF">2026-09-11T01:18:26Z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