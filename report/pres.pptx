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Opening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Problem framing based on report sections Results and Practical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Screens: report/assets/stud home.png and stud book.png. Features: report Results, Scheduling System,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Screens: report/assets/prof home.png and prof create slots.png. Features: report Results, Scheduling System, For Professors.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Screen: report/assets/campus map.png. Features: report Results, Interactive Campus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Screen: report/assets/campus routing multi floor.png. The graph uses Dijkstra; cross-floor edges receive a heuristic penalty.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Integration described in report Multi-Floor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Flutter keeps scheduling and navigation in one client. The map renders bundled indoor geometry; Dijkstra runs on a pre-built campus graph. The booking API derives a stable key for each offered slot. The database rejects a second record for that key and the API returns HTTP 409. This is a prototype safeguard, not a claim of production-scale concurrency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Roadmap based on report Further Development and Practical Application/Deployment.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SyncUp technical report, September 2026.</a:t>
            </a:r>
          </a:p>
          <a:p>
            <a:r>
              <a:t>Roadmap based on report Further Development and Practical Application/Deployment.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10" name="Rectangles 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5" name="Rectangles 4"/>
          <p:cNvSpPr>
            <a:spLocks noGrp="1"/>
          </p:cNvSpPr>
          <p:nvPr/>
        </p:nvSpPr>
        <p:spPr>
          <a:xfrm>
            <a:off x="762000" y="1917065"/>
            <a:ext cx="3943985" cy="98996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S</a:t>
            </a:r>
            <a:r>
              <a:rPr lang="en-US" sz="54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ync</a:t>
            </a:r>
            <a:r>
              <a:rPr sz="5400" b="1">
                <a:solidFill>
                  <a:schemeClr val="accent1"/>
                </a:solidFill>
                <a:latin typeface="Aptos"/>
                <a:ea typeface="Aptos"/>
                <a:cs typeface="Aptos"/>
              </a:rPr>
              <a:t>U</a:t>
            </a:r>
            <a:r>
              <a:rPr lang="en-US" sz="5400" b="1">
                <a:solidFill>
                  <a:schemeClr val="accent1"/>
                </a:solidFill>
                <a:latin typeface="Aptos"/>
                <a:ea typeface="Aptos"/>
                <a:cs typeface="Aptos"/>
              </a:rPr>
              <a:t>p</a:t>
            </a:r>
            <a:endParaRPr lang="en-US" sz="5400" b="1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839470" y="2907030"/>
            <a:ext cx="4762500" cy="685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875" b="0">
                <a:solidFill>
                  <a:srgbClr val="D5E5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University appointment scheduling and indoor campus navigation</a:t>
            </a:r>
            <a:endParaRPr sz="1875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 flipV="1">
            <a:off x="911860" y="3644900"/>
            <a:ext cx="5132070" cy="5080"/>
          </a:xfrm>
          <a:prstGeom prst="line">
            <a:avLst/>
          </a:prstGeom>
          <a:ln w="47625">
            <a:solidFill>
              <a:srgbClr val="F2B84B"/>
            </a:solidFill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844550" y="4509135"/>
            <a:ext cx="5267325" cy="87058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Adar Otieno · Eyobed Awel Nuri · Pengwei Jiang · Mengran Zhao</a:t>
            </a: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FIT VUT · September 2026</a:t>
            </a: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335" y="189230"/>
            <a:ext cx="3152775" cy="6442075"/>
          </a:xfrm>
          <a:prstGeom prst="rect">
            <a:avLst/>
          </a:prstGeom>
        </p:spPr>
      </p:pic>
      <p:pic>
        <p:nvPicPr>
          <p:cNvPr id="11" name="Picture 10" descr="extende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470" y="332740"/>
            <a:ext cx="1221105" cy="1221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Rectangles 18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THE PROBLEM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One appointment involves 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multiple</a:t>
            </a: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work</a:t>
            </a:r>
            <a:endParaRPr lang="en-US"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02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685800" y="1857375"/>
            <a:ext cx="10820400" cy="9525"/>
          </a:xfrm>
          <a:prstGeom prst="rect">
            <a:avLst/>
          </a:prstGeom>
          <a:solidFill>
            <a:srgbClr val="B8D9DA"/>
          </a:solidFill>
          <a:ln w="0">
            <a:noFill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6858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BOOK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85800" y="2714625"/>
            <a:ext cx="2864485" cy="1504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Scheduling a </a:t>
            </a:r>
            <a:r>
              <a:rPr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consultation often relies on email exchanges</a:t>
            </a:r>
            <a:r>
              <a:rPr lang="en-US" sz="202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and other fragmented methods</a:t>
            </a:r>
            <a:endParaRPr lang="en-US" sz="202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raight Connector 7"/>
          <p:cNvSpPr>
            <a:spLocks noGrp="1"/>
          </p:cNvSpPr>
          <p:nvPr/>
        </p:nvSpPr>
        <p:spPr>
          <a:xfrm>
            <a:off x="6858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9" name="Rectangles 8"/>
          <p:cNvSpPr>
            <a:spLocks noGrp="1"/>
          </p:cNvSpPr>
          <p:nvPr/>
        </p:nvSpPr>
        <p:spPr>
          <a:xfrm>
            <a:off x="6858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 lnSpcReduction="10000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Schedul</a:t>
            </a:r>
            <a:r>
              <a:rPr lang="en-US"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ing</a:t>
            </a: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 the meeting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43434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LOCATE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4343400" y="2714625"/>
            <a:ext cx="2895600" cy="1384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New students and visitors can struggle to find an office or </a:t>
            </a:r>
            <a:r>
              <a:rPr lang="en-US"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class room</a:t>
            </a:r>
            <a:r>
              <a:rPr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.</a:t>
            </a:r>
            <a:endParaRPr sz="18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43434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43434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 lnSpcReduction="10000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Reach</a:t>
            </a:r>
            <a:r>
              <a:rPr lang="en-US"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ing</a:t>
            </a: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 the destination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001000" y="2266950"/>
            <a:ext cx="2714625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/>
          </a:bodyPr>
          <a:lstStyle/>
          <a:p>
            <a:pPr>
              <a:defRPr sz="13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CONNECT</a:t>
            </a:r>
            <a:endParaRPr sz="13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00100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>
              <a:defRPr sz="20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Existing tools</a:t>
            </a:r>
            <a:r>
              <a:rPr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do not </a:t>
            </a:r>
            <a:r>
              <a:rPr lang="en-US"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store </a:t>
            </a:r>
            <a:r>
              <a:rPr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the meeting context</a:t>
            </a:r>
            <a:r>
              <a:rPr lang="en-US" sz="18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, history and aid with organisation</a:t>
            </a:r>
            <a:endParaRPr lang="en-US" sz="18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raight Connector 15"/>
          <p:cNvSpPr>
            <a:spLocks noGrp="1"/>
          </p:cNvSpPr>
          <p:nvPr/>
        </p:nvSpPr>
        <p:spPr>
          <a:xfrm>
            <a:off x="8001000" y="4171950"/>
            <a:ext cx="2571750" cy="0"/>
          </a:xfrm>
          <a:prstGeom prst="line">
            <a:avLst/>
          </a:prstGeom>
          <a:ln w="19050">
            <a:solidFill>
              <a:srgbClr val="B8D9DA"/>
            </a:solidFill>
          </a:ln>
        </p:spPr>
      </p:sp>
      <p:sp>
        <p:nvSpPr>
          <p:cNvPr id="17" name="Rectangles 16"/>
          <p:cNvSpPr>
            <a:spLocks noGrp="1"/>
          </p:cNvSpPr>
          <p:nvPr/>
        </p:nvSpPr>
        <p:spPr>
          <a:xfrm>
            <a:off x="8001000" y="440055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 lnSpcReduction="10000"/>
          </a:bodyPr>
          <a:lstStyle/>
          <a:p>
            <a:pPr>
              <a:defRPr sz="127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Keep</a:t>
            </a:r>
            <a:r>
              <a:rPr lang="en-US"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ing</a:t>
            </a:r>
            <a:r>
              <a:rPr sz="127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 the context</a:t>
            </a:r>
            <a:endParaRPr sz="127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685800" y="5467350"/>
            <a:ext cx="88582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025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SyncUp brings booking and campus navigation into one flow.</a:t>
            </a:r>
            <a:endParaRPr sz="2025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lang="en-US"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OUR </a:t>
            </a: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SOLUTION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One</a:t>
            </a: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singular method</a:t>
            </a: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from 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scheduling</a:t>
            </a: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to arrival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03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43815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8077200" y="1790700"/>
            <a:ext cx="3429000" cy="390525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9525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1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9525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Choose a time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952500" y="3257550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Students browse staff availability and submit a consultation request.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46482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2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6482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Meeting details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4648200" y="3238500"/>
            <a:ext cx="2750820" cy="120713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booking keeps </a:t>
            </a:r>
            <a:r>
              <a:rPr lang="en-US"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organisation of multiple consultations easy</a:t>
            </a:r>
            <a:endParaRPr lang="en-US"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8343900" y="2076450"/>
            <a:ext cx="4572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9216"/>
          </a:bodyPr>
          <a:lstStyle/>
          <a:p>
            <a:pPr>
              <a:defRPr sz="25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3</a:t>
            </a:r>
            <a:endParaRPr sz="25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8343900" y="27241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8571"/>
          </a:bodyPr>
          <a:lstStyle/>
          <a:p>
            <a:pPr>
              <a:defRPr sz="210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Open the route</a:t>
            </a:r>
            <a:endParaRPr sz="21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8343900" y="3238500"/>
            <a:ext cx="26670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50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can focus on the destination and show an indoor path across floors.</a:t>
            </a:r>
            <a:endParaRPr sz="15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4114800" y="3714750"/>
            <a:ext cx="26670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8" name="Straight Connector 17"/>
          <p:cNvSpPr>
            <a:spLocks noGrp="1"/>
          </p:cNvSpPr>
          <p:nvPr/>
        </p:nvSpPr>
        <p:spPr>
          <a:xfrm>
            <a:off x="7810500" y="3714750"/>
            <a:ext cx="26670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Student booking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04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557020"/>
            <a:ext cx="3257550" cy="4806950"/>
          </a:xfrm>
          <a:prstGeom prst="rect">
            <a:avLst/>
          </a:prstGeom>
          <a:effectLst>
            <a:outerShdw blurRad="444500" sx="102000" sy="102000" algn="ctr" rotWithShape="0">
              <a:prstClr val="black">
                <a:alpha val="9000"/>
              </a:prstClr>
            </a:outerShdw>
          </a:effec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965" y="1555750"/>
            <a:ext cx="3255010" cy="4803775"/>
          </a:xfrm>
          <a:prstGeom prst="rect">
            <a:avLst/>
          </a:prstGeom>
          <a:effectLst>
            <a:outerShdw blurRad="419100" sx="102000" sy="102000" algn="ctr" rotWithShape="0">
              <a:prstClr val="black">
                <a:alpha val="10000"/>
              </a:prstClr>
            </a:outerShdw>
          </a:effectLst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0415" y="1557020"/>
            <a:ext cx="3252470" cy="4801870"/>
          </a:xfrm>
          <a:prstGeom prst="rect">
            <a:avLst/>
          </a:prstGeom>
          <a:effectLst>
            <a:outerShdw blurRad="457200" sx="102000" sy="102000" algn="ctr" rotWithShape="0">
              <a:prstClr val="black">
                <a:alpha val="10000"/>
              </a:prstClr>
            </a:outerShdw>
          </a:effectLst>
        </p:spPr>
      </p:pic>
      <p:sp>
        <p:nvSpPr>
          <p:cNvPr id="24" name="Text Box 23"/>
          <p:cNvSpPr txBox="1"/>
          <p:nvPr/>
        </p:nvSpPr>
        <p:spPr>
          <a:xfrm>
            <a:off x="1653540" y="6454140"/>
            <a:ext cx="1562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home page</a:t>
            </a:r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5593080" y="6499860"/>
            <a:ext cx="1294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search</a:t>
            </a:r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9480550" y="6489700"/>
            <a:ext cx="1151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book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s 10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SCHEDULING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Availability management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for staff</a:t>
            </a:r>
            <a:endParaRPr lang="en-US"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05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8967470" y="654685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 lnSpcReduction="10000"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lang="en-US"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Week viewer</a:t>
            </a:r>
            <a:endParaRPr lang="en-US"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4511675" y="6541770"/>
            <a:ext cx="4027805" cy="462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lang="en-US"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Setting up slots including recurring slots</a:t>
            </a:r>
            <a:endParaRPr lang="en-US"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1413510"/>
            <a:ext cx="3408680" cy="5030470"/>
          </a:xfrm>
          <a:prstGeom prst="rect">
            <a:avLst/>
          </a:prstGeom>
          <a:effectLst>
            <a:outerShdw blurRad="457200" sx="102000" sy="102000" algn="ctr" rotWithShape="0">
              <a:prstClr val="black">
                <a:alpha val="8000"/>
              </a:prstClr>
            </a:outerShdw>
          </a:effec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675" y="1437640"/>
            <a:ext cx="3388360" cy="4999990"/>
          </a:xfrm>
          <a:prstGeom prst="rect">
            <a:avLst/>
          </a:prstGeom>
          <a:effectLst>
            <a:outerShdw blurRad="444500" dist="50800" dir="5400000" algn="ctr" rotWithShape="0">
              <a:srgbClr val="000000">
                <a:alpha val="14000"/>
              </a:srgb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25" y="1412875"/>
            <a:ext cx="3406140" cy="5027295"/>
          </a:xfrm>
          <a:prstGeom prst="rect">
            <a:avLst/>
          </a:prstGeom>
          <a:effectLst>
            <a:outerShdw blurRad="469900" sx="102000" sy="102000" algn="ctr" rotWithShape="0">
              <a:prstClr val="black">
                <a:alpha val="7000"/>
              </a:prstClr>
            </a:outerShdw>
          </a:effectLst>
        </p:spPr>
      </p:pic>
      <p:sp>
        <p:nvSpPr>
          <p:cNvPr id="14" name="Rectangles 13"/>
          <p:cNvSpPr>
            <a:spLocks noGrp="1"/>
          </p:cNvSpPr>
          <p:nvPr/>
        </p:nvSpPr>
        <p:spPr>
          <a:xfrm>
            <a:off x="1703705" y="6523990"/>
            <a:ext cx="16954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196" lnSpcReduction="10000"/>
          </a:bodyPr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lang="en-US"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Schedule viewer</a:t>
            </a:r>
            <a:endParaRPr lang="en-US"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Rectangles 10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FITMAPS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Indoor map</a:t>
            </a: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ping</a:t>
            </a: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 and room search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 flipV="1">
            <a:off x="685800" y="1267460"/>
            <a:ext cx="5701665" cy="1905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06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480" y="836930"/>
            <a:ext cx="3718560" cy="5487670"/>
          </a:xfrm>
          <a:prstGeom prst="rect">
            <a:avLst/>
          </a:prstGeom>
          <a:effectLst>
            <a:outerShdw blurRad="495300" sx="102000" sy="102000" algn="ctr" rotWithShape="0">
              <a:prstClr val="black">
                <a:alpha val="10000"/>
              </a:prstClr>
            </a:outerShdw>
          </a:effectLst>
        </p:spPr>
      </p:pic>
      <p:sp>
        <p:nvSpPr>
          <p:cNvPr id="19" name="Rectangles 18"/>
          <p:cNvSpPr>
            <a:spLocks noGrp="1"/>
          </p:cNvSpPr>
          <p:nvPr/>
        </p:nvSpPr>
        <p:spPr>
          <a:xfrm>
            <a:off x="767715" y="2420620"/>
            <a:ext cx="5760085" cy="31045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Demo on FIT campus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Information on all rooms and floors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Interactive floor selector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Detailed room cards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One-click route generation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Integrated fully with the scheduling system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NAVIGATION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707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Routing</a:t>
            </a:r>
            <a:endParaRPr lang="en-US"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07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90" y="549275"/>
            <a:ext cx="3814445" cy="5628640"/>
          </a:xfrm>
          <a:prstGeom prst="rect">
            <a:avLst/>
          </a:prstGeom>
          <a:effectLst>
            <a:outerShdw blurRad="419100" sx="102000" sy="102000" algn="ctr" rotWithShape="0">
              <a:prstClr val="black">
                <a:alpha val="7000"/>
              </a:prstClr>
            </a:outerShdw>
          </a:effectLst>
        </p:spPr>
      </p:pic>
      <p:cxnSp>
        <p:nvCxnSpPr>
          <p:cNvPr id="15" name="Straight Connector 14"/>
          <p:cNvCxnSpPr/>
          <p:nvPr/>
        </p:nvCxnSpPr>
        <p:spPr>
          <a:xfrm>
            <a:off x="685800" y="1341120"/>
            <a:ext cx="54102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s 18"/>
          <p:cNvSpPr>
            <a:spLocks noGrp="1"/>
          </p:cNvSpPr>
          <p:nvPr/>
        </p:nvSpPr>
        <p:spPr>
          <a:xfrm>
            <a:off x="767715" y="2420620"/>
            <a:ext cx="5760085" cy="31045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20000"/>
          </a:bodyPr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Finds the shortest path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lang="en-US" sz="19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multi-floor support</a:t>
            </a: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 marL="342900" indent="-342900">
              <a:lnSpc>
                <a:spcPct val="140000"/>
              </a:lnSpc>
              <a:buFont typeface="Arial" panose="02080604020202020204" pitchFamily="34" charset="0"/>
              <a:buChar char="•"/>
              <a:defRPr sz="19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endParaRPr lang="en-US" sz="19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INTEGRATION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The meeting location can become a route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08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835660" y="270891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1102360" y="293751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01</a:t>
            </a:r>
            <a:endParaRPr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1102360" y="339471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Booking</a:t>
            </a:r>
            <a:endParaRPr sz="217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102360" y="390906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 confirmed consultation includes its room.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traight Connector 8"/>
          <p:cNvSpPr>
            <a:spLocks noGrp="1"/>
          </p:cNvSpPr>
          <p:nvPr/>
        </p:nvSpPr>
        <p:spPr>
          <a:xfrm>
            <a:off x="3693160" y="3718560"/>
            <a:ext cx="7810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474210" y="270891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0C7F89"/>
          </a:solidFill>
          <a:ln w="9525">
            <a:solidFill>
              <a:srgbClr val="0C7F89"/>
            </a:solidFill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4740910" y="293751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F1"/>
                </a:solidFill>
                <a:latin typeface="Aptos"/>
                <a:ea typeface="Aptos"/>
                <a:cs typeface="Aptos"/>
              </a:rPr>
              <a:t>02</a:t>
            </a:r>
            <a:endParaRPr sz="1275" b="1">
              <a:solidFill>
                <a:srgbClr val="D9F3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4740910" y="339471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Navigate</a:t>
            </a:r>
            <a:endParaRPr sz="217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4740910" y="390906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user opens navigation from meeting context.</a:t>
            </a:r>
            <a:endParaRPr sz="1425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Straight Connector 13"/>
          <p:cNvSpPr>
            <a:spLocks noGrp="1"/>
          </p:cNvSpPr>
          <p:nvPr/>
        </p:nvSpPr>
        <p:spPr>
          <a:xfrm>
            <a:off x="7331710" y="3718560"/>
            <a:ext cx="781050" cy="0"/>
          </a:xfrm>
          <a:prstGeom prst="line">
            <a:avLst/>
          </a:prstGeom>
          <a:ln w="38100">
            <a:solidFill>
              <a:srgbClr val="F2B84B"/>
            </a:solidFill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12760" y="2708910"/>
            <a:ext cx="2857500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379460" y="2937510"/>
            <a:ext cx="6096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03</a:t>
            </a:r>
            <a:endParaRPr sz="1275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8379460" y="339471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5862"/>
          </a:bodyPr>
          <a:lstStyle/>
          <a:p>
            <a:pPr>
              <a:defRPr sz="217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Route</a:t>
            </a:r>
            <a:endParaRPr sz="2175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8379460" y="3909060"/>
            <a:ext cx="2238375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The map targets the office and shows directions.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s 19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TECHNICAL DETAILS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Prototype architecture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09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85800" y="2061210"/>
            <a:ext cx="3402965" cy="3007995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0B2239"/>
            </a:solidFill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952500" y="2381250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20"/>
          </a:bodyPr>
          <a:lstStyle/>
          <a:p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Flutter </a:t>
            </a:r>
            <a:r>
              <a:rPr lang="en-US" sz="195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frontend</a:t>
            </a:r>
            <a:endParaRPr lang="en-US" sz="1950" b="1">
              <a:solidFill>
                <a:schemeClr val="tx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raight Connector 6"/>
          <p:cNvSpPr>
            <a:spLocks noGrp="1"/>
          </p:cNvSpPr>
          <p:nvPr/>
        </p:nvSpPr>
        <p:spPr>
          <a:xfrm flipV="1">
            <a:off x="952500" y="2910840"/>
            <a:ext cx="2840355" cy="13335"/>
          </a:xfrm>
          <a:prstGeom prst="line">
            <a:avLst/>
          </a:prstGeom>
          <a:ln w="28575">
            <a:solidFill>
              <a:srgbClr val="F2B84B"/>
            </a:solidFill>
          </a:ln>
        </p:spPr>
      </p:sp>
      <p:sp>
        <p:nvSpPr>
          <p:cNvPr id="8" name="Rectangles 7"/>
          <p:cNvSpPr>
            <a:spLocks noGrp="1"/>
          </p:cNvSpPr>
          <p:nvPr/>
        </p:nvSpPr>
        <p:spPr>
          <a:xfrm>
            <a:off x="1009650" y="3141345"/>
            <a:ext cx="2800350" cy="165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285750" indent="-285750">
              <a:buFont typeface="Arial" panose="02080604020202020204" pitchFamily="34" charset="0"/>
              <a:buChar char="•"/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Cross-platform scheduling and map UI</a:t>
            </a: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  <a:p>
            <a:pPr marL="285750" indent="-285750">
              <a:buFont typeface="Arial" panose="02080604020202020204" pitchFamily="34" charset="0"/>
              <a:buChar char="•"/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Custom-painted indoor geometry</a:t>
            </a: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  <a:p>
            <a:pPr marL="285750" indent="-285750">
              <a:buFont typeface="Arial" panose="02080604020202020204" pitchFamily="34" charset="0"/>
              <a:buChar char="•"/>
              <a:defRPr sz="1350" b="0">
                <a:solidFill>
                  <a:srgbClr val="DCEC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chemeClr val="accent1"/>
                </a:solidFill>
                <a:latin typeface="Aptos"/>
                <a:ea typeface="Aptos"/>
                <a:cs typeface="Aptos"/>
              </a:rPr>
              <a:t>Room search, floor selection, pan and zoom</a:t>
            </a:r>
            <a:endParaRPr sz="1350" b="0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4400550" y="2057400"/>
            <a:ext cx="3227070" cy="304927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4667250" y="2381250"/>
            <a:ext cx="24765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820"/>
          </a:bodyPr>
          <a:lstStyle/>
          <a:p>
            <a:pPr>
              <a:defRPr sz="19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Route engine</a:t>
            </a:r>
            <a:endParaRPr sz="19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Straight Connector 11"/>
          <p:cNvSpPr>
            <a:spLocks noGrp="1"/>
          </p:cNvSpPr>
          <p:nvPr/>
        </p:nvSpPr>
        <p:spPr>
          <a:xfrm>
            <a:off x="4667250" y="2924175"/>
            <a:ext cx="1143000" cy="0"/>
          </a:xfrm>
          <a:prstGeom prst="line">
            <a:avLst/>
          </a:prstGeom>
          <a:ln w="28575">
            <a:solidFill>
              <a:srgbClr val="0C7F89"/>
            </a:solidFill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4667250" y="3200400"/>
            <a:ext cx="2710815" cy="168021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185"/>
          </a:bodyPr>
          <a:lstStyle/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Dijkstra on 1,004 nodes and 2,116 edges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Weighted floor changes add a 40 m-equivalent penalty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Mapped stairs and elevators guide transitions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115300" y="2057400"/>
            <a:ext cx="3153410" cy="304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B8D9DA"/>
            </a:solidFill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8382000" y="2381250"/>
            <a:ext cx="2708275" cy="60896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820"/>
          </a:bodyPr>
          <a:lstStyle/>
          <a:p>
            <a:pPr>
              <a:defRPr sz="19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Scheduling </a:t>
            </a:r>
            <a:r>
              <a:rPr lang="en-US"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backend </a:t>
            </a:r>
            <a:r>
              <a:rPr sz="19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service</a:t>
            </a:r>
            <a:endParaRPr sz="19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traight Connector 16"/>
          <p:cNvSpPr>
            <a:spLocks noGrp="1"/>
          </p:cNvSpPr>
          <p:nvPr/>
        </p:nvSpPr>
        <p:spPr>
          <a:xfrm>
            <a:off x="8382000" y="2924175"/>
            <a:ext cx="1143000" cy="0"/>
          </a:xfrm>
          <a:prstGeom prst="line">
            <a:avLst/>
          </a:prstGeom>
          <a:ln w="28575">
            <a:solidFill>
              <a:srgbClr val="0C7F89"/>
            </a:solidFill>
          </a:ln>
        </p:spPr>
      </p:sp>
      <p:sp>
        <p:nvSpPr>
          <p:cNvPr id="18" name="Rectangles 17"/>
          <p:cNvSpPr>
            <a:spLocks noGrp="1"/>
          </p:cNvSpPr>
          <p:nvPr/>
        </p:nvSpPr>
        <p:spPr>
          <a:xfrm>
            <a:off x="8382000" y="3200400"/>
            <a:ext cx="2648585" cy="15805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Node.js Express API with PocketBase and SQLite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Recurring templates and date-specific slots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80604020202020204" pitchFamily="34" charset="0"/>
              <a:buChar char="•"/>
              <a:defRPr sz="1350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Unique slot key rejects duplicates with HTTP 409</a:t>
            </a:r>
            <a:endParaRPr sz="135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742950" y="5805805"/>
            <a:ext cx="107632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3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Current scope: static indoor data and heuristic weighting. </a:t>
            </a:r>
            <a:endParaRPr sz="13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  <a:p>
            <a:pPr>
              <a:defRPr sz="13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Live positioning, calendar integration, security/load testing, and campus validation belong to the next pilot.</a:t>
            </a:r>
            <a:endParaRPr sz="13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s 22"/>
          <p:cNvSpPr>
            <a:spLocks noGrp="1"/>
          </p:cNvSpPr>
          <p:nvPr/>
        </p:nvSpPr>
        <p:spPr>
          <a:xfrm>
            <a:off x="685800" y="4000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714"/>
          </a:bodyPr>
          <a:lstStyle/>
          <a:p>
            <a:pPr>
              <a:defRPr sz="1050" b="1">
                <a:solidFill>
                  <a:srgbClr val="0C7F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F89"/>
                </a:solidFill>
                <a:latin typeface="Aptos"/>
                <a:ea typeface="Aptos"/>
                <a:cs typeface="Aptos"/>
              </a:rPr>
              <a:t>NEXT STEPS</a:t>
            </a:r>
            <a:endParaRPr sz="1050" b="1">
              <a:solidFill>
                <a:srgbClr val="0C7F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857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Future development</a:t>
            </a:r>
            <a:endParaRPr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10</a:t>
            </a:r>
            <a:endParaRPr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685800" y="18573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000"/>
          </a:bodyPr>
          <a:lstStyle/>
          <a:p>
            <a:pPr>
              <a:defRPr sz="22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Where the prototype can grow</a:t>
            </a:r>
            <a:endParaRPr sz="22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85800" y="2714625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0C7F89"/>
          </a:solidFill>
          <a:ln w="0">
            <a:noFill/>
          </a:ln>
        </p:spPr>
      </p:sp>
      <p:sp>
        <p:nvSpPr>
          <p:cNvPr id="7" name="Rectangles 6"/>
          <p:cNvSpPr>
            <a:spLocks noGrp="1"/>
          </p:cNvSpPr>
          <p:nvPr/>
        </p:nvSpPr>
        <p:spPr>
          <a:xfrm>
            <a:off x="914400" y="285750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809750" y="2752725"/>
            <a:ext cx="4426585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16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WiFi triangulation real time navigation.</a:t>
            </a:r>
            <a:endParaRPr lang="en-US" sz="16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1809750" y="3114675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lang="en-US" sz="1200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GPS does not work or is inaccurate indoors</a:t>
            </a:r>
            <a:endParaRPr lang="en-US" sz="1200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85800" y="3714750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D9F3F1"/>
          </a:solidFill>
          <a:ln w="0">
            <a:noFill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914400" y="3857625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2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809750" y="3752850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Campus coverage</a:t>
            </a:r>
            <a:endParaRPr sz="16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1809750" y="4114800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Extend the map dataset beyond the primary FIT campus.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685800" y="4714875"/>
            <a:ext cx="809625" cy="590550"/>
          </a:xfrm>
          <a:prstGeom prst="roundRect">
            <a:avLst>
              <a:gd name="adj" fmla="val 19355"/>
            </a:avLst>
          </a:prstGeom>
          <a:solidFill>
            <a:srgbClr val="D9F3F1"/>
          </a:solidFill>
          <a:ln w="0">
            <a:noFill/>
          </a:ln>
        </p:spPr>
      </p:sp>
      <p:sp>
        <p:nvSpPr>
          <p:cNvPr id="15" name="Rectangles 14"/>
          <p:cNvSpPr>
            <a:spLocks noGrp="1"/>
          </p:cNvSpPr>
          <p:nvPr/>
        </p:nvSpPr>
        <p:spPr>
          <a:xfrm>
            <a:off x="914400" y="4857750"/>
            <a:ext cx="3429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9697"/>
          </a:bodyPr>
          <a:lstStyle/>
          <a:p>
            <a:pPr>
              <a:defRPr sz="1650" b="1">
                <a:solidFill>
                  <a:srgbClr val="075C6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5C66"/>
                </a:solidFill>
                <a:latin typeface="Aptos"/>
                <a:ea typeface="Aptos"/>
                <a:cs typeface="Aptos"/>
              </a:rPr>
              <a:t>3</a:t>
            </a:r>
            <a:endParaRPr sz="1650" b="1">
              <a:solidFill>
                <a:srgbClr val="075C6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809750" y="475297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>
              <a:defRPr sz="1725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160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Generalised solution</a:t>
            </a:r>
            <a:endParaRPr lang="en-US" sz="160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1809750" y="5114925"/>
            <a:ext cx="61912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425" b="0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272"/>
                </a:solidFill>
                <a:latin typeface="Aptos"/>
                <a:ea typeface="Aptos"/>
                <a:cs typeface="Aptos"/>
              </a:rPr>
              <a:t>Adapt the scheduling and map model for other faculties or universities.</a:t>
            </a:r>
            <a:endParaRPr sz="1425" b="0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9058275" y="2524125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143"/>
          </a:bodyPr>
          <a:lstStyle/>
          <a:p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SyncUp</a:t>
            </a:r>
            <a:endParaRPr sz="26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9086850" y="48577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B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Straight Connector 2"/>
          <p:cNvSpPr>
            <a:spLocks noGrp="1"/>
          </p:cNvSpPr>
          <p:nvPr/>
        </p:nvSpPr>
        <p:spPr>
          <a:xfrm>
            <a:off x="685800" y="1333500"/>
            <a:ext cx="10820400" cy="0"/>
          </a:xfrm>
          <a:prstGeom prst="line">
            <a:avLst/>
          </a:prstGeom>
          <a:ln w="9525">
            <a:solidFill>
              <a:srgbClr val="B8D9DA"/>
            </a:solidFill>
          </a:ln>
        </p:spPr>
      </p:sp>
      <p:sp>
        <p:nvSpPr>
          <p:cNvPr id="4" name="Rectangles 3"/>
          <p:cNvSpPr>
            <a:spLocks noGrp="1"/>
          </p:cNvSpPr>
          <p:nvPr/>
        </p:nvSpPr>
        <p:spPr>
          <a:xfrm>
            <a:off x="10858500" y="400050"/>
            <a:ext cx="6477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262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1</a:t>
            </a:r>
            <a:r>
              <a:rPr lang="en-US" sz="1125" b="1">
                <a:solidFill>
                  <a:srgbClr val="526272"/>
                </a:solidFill>
                <a:latin typeface="Aptos"/>
                <a:ea typeface="Aptos"/>
                <a:cs typeface="Aptos"/>
              </a:rPr>
              <a:t>1</a:t>
            </a:r>
            <a:endParaRPr lang="en-US" sz="1125" b="1">
              <a:solidFill>
                <a:srgbClr val="5262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ectangles 18"/>
          <p:cNvSpPr>
            <a:spLocks noGrp="1"/>
          </p:cNvSpPr>
          <p:nvPr/>
        </p:nvSpPr>
        <p:spPr>
          <a:xfrm>
            <a:off x="9058275" y="2524125"/>
            <a:ext cx="19812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7143"/>
          </a:bodyPr>
          <a:lstStyle/>
          <a:p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SyncUp</a:t>
            </a:r>
            <a:endParaRPr sz="2625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s 21"/>
          <p:cNvSpPr>
            <a:spLocks noGrp="1"/>
          </p:cNvSpPr>
          <p:nvPr/>
        </p:nvSpPr>
        <p:spPr>
          <a:xfrm>
            <a:off x="9086850" y="4857750"/>
            <a:ext cx="195262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194" lnSpcReduction="10000"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8" name="Picture 17" descr="extend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0190" y="1916430"/>
            <a:ext cx="3724275" cy="3724275"/>
          </a:xfrm>
          <a:prstGeom prst="rect">
            <a:avLst/>
          </a:prstGeom>
        </p:spPr>
      </p:pic>
      <p:sp>
        <p:nvSpPr>
          <p:cNvPr id="21" name="Text Box 20"/>
          <p:cNvSpPr txBox="1"/>
          <p:nvPr/>
        </p:nvSpPr>
        <p:spPr>
          <a:xfrm>
            <a:off x="7605395" y="5805170"/>
            <a:ext cx="17132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1800" b="1">
                <a:solidFill>
                  <a:srgbClr val="0B2239"/>
                </a:solidFill>
                <a:latin typeface="Aptos"/>
                <a:ea typeface="Aptos"/>
                <a:cs typeface="Aptos"/>
                <a:sym typeface="+mn-ea"/>
              </a:rPr>
              <a:t>Online demo</a:t>
            </a:r>
            <a:endParaRPr lang="en-US"/>
          </a:p>
        </p:txBody>
      </p:sp>
      <p:sp>
        <p:nvSpPr>
          <p:cNvPr id="24" name="Rectangles 23"/>
          <p:cNvSpPr>
            <a:spLocks noGrp="1"/>
          </p:cNvSpPr>
          <p:nvPr/>
        </p:nvSpPr>
        <p:spPr>
          <a:xfrm>
            <a:off x="695960" y="685800"/>
            <a:ext cx="2588895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defRPr sz="2550" b="1">
                <a:solidFill>
                  <a:srgbClr val="0B2239"/>
                </a:solidFill>
                <a:latin typeface="Aptos"/>
                <a:ea typeface="Aptos"/>
                <a:cs typeface="Aptos"/>
              </a:defRPr>
            </a:pPr>
            <a:r>
              <a:rPr lang="en-US" sz="2550" b="1">
                <a:solidFill>
                  <a:srgbClr val="0B2239"/>
                </a:solidFill>
                <a:latin typeface="Aptos"/>
                <a:ea typeface="Aptos"/>
                <a:cs typeface="Aptos"/>
              </a:rPr>
              <a:t>Děkuju</a:t>
            </a:r>
            <a:endParaRPr lang="en-US" sz="2550" b="1">
              <a:solidFill>
                <a:srgbClr val="0B223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1631950" y="3213100"/>
            <a:ext cx="3943985" cy="989965"/>
          </a:xfrm>
          <a:prstGeom prst="rect">
            <a:avLst/>
          </a:prstGeom>
          <a:noFill/>
          <a:ln w="0">
            <a:noFill/>
          </a:ln>
        </p:spPr>
        <p:txBody>
          <a:bodyPr anchor="t"/>
          <a:p>
            <a:pPr>
              <a:defRPr sz="1275" b="1">
                <a:solidFill>
                  <a:srgbClr val="D9F3F1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S</a:t>
            </a:r>
            <a:r>
              <a:rPr lang="en-US" sz="5400" b="1">
                <a:solidFill>
                  <a:schemeClr val="tx1"/>
                </a:solidFill>
                <a:latin typeface="Aptos"/>
                <a:ea typeface="Aptos"/>
                <a:cs typeface="Aptos"/>
              </a:rPr>
              <a:t>ync</a:t>
            </a:r>
            <a:r>
              <a:rPr sz="5400" b="1">
                <a:solidFill>
                  <a:schemeClr val="accent1"/>
                </a:solidFill>
                <a:latin typeface="Aptos"/>
                <a:ea typeface="Aptos"/>
                <a:cs typeface="Aptos"/>
              </a:rPr>
              <a:t>U</a:t>
            </a:r>
            <a:r>
              <a:rPr lang="en-US" sz="5400" b="1">
                <a:solidFill>
                  <a:schemeClr val="accent1"/>
                </a:solidFill>
                <a:latin typeface="Aptos"/>
                <a:ea typeface="Aptos"/>
                <a:cs typeface="Aptos"/>
              </a:rPr>
              <a:t>p</a:t>
            </a:r>
            <a:endParaRPr lang="en-US" sz="5400" b="1">
              <a:solidFill>
                <a:schemeClr val="accent1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2537</Words>
  <Application>WPS Presentation</Application>
  <PresentationFormat>Converted Presentation</PresentationFormat>
  <Paragraphs>198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Aptos</vt:lpstr>
      <vt:lpstr>Comfortaa Light</vt:lpstr>
      <vt:lpstr>Microsoft YaHei</vt:lpstr>
      <vt:lpstr>Droid Sans Fallback</vt:lpstr>
      <vt:lpstr>DejaVu Sans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eyobed</cp:lastModifiedBy>
  <cp:revision>2</cp:revision>
  <dcterms:created xsi:type="dcterms:W3CDTF">2026-09-11T09:44:13Z</dcterms:created>
  <dcterms:modified xsi:type="dcterms:W3CDTF">2026-09-11T09:44:13Z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